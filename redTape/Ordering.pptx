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326" r:id="rId5"/>
    <p:sldId id="327" r:id="rId6"/>
    <p:sldId id="331" r:id="rId7"/>
    <p:sldId id="328" r:id="rId8"/>
    <p:sldId id="329" r:id="rId9"/>
    <p:sldId id="33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206A7-2E91-4DAA-A9B3-1994F468A260}" v="144" dt="2026-02-10T00:47:50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 Beasley" userId="S::rbeasle@purdue.edu::366df439-aa2e-424b-a8f5-a83561fd5417" providerId="AD" clId="Web-{54E206A7-2E91-4DAA-A9B3-1994F468A260}"/>
    <pc:docChg chg="addSld modSld">
      <pc:chgData name="Ryan M Beasley" userId="S::rbeasle@purdue.edu::366df439-aa2e-424b-a8f5-a83561fd5417" providerId="AD" clId="Web-{54E206A7-2E91-4DAA-A9B3-1994F468A260}" dt="2026-02-10T00:47:50.659" v="144" actId="20577"/>
      <pc:docMkLst>
        <pc:docMk/>
      </pc:docMkLst>
      <pc:sldChg chg="modSp new">
        <pc:chgData name="Ryan M Beasley" userId="S::rbeasle@purdue.edu::366df439-aa2e-424b-a8f5-a83561fd5417" providerId="AD" clId="Web-{54E206A7-2E91-4DAA-A9B3-1994F468A260}" dt="2026-02-10T00:47:50.659" v="144" actId="20577"/>
        <pc:sldMkLst>
          <pc:docMk/>
          <pc:sldMk cId="2557734736" sldId="331"/>
        </pc:sldMkLst>
        <pc:spChg chg="mod">
          <ac:chgData name="Ryan M Beasley" userId="S::rbeasle@purdue.edu::366df439-aa2e-424b-a8f5-a83561fd5417" providerId="AD" clId="Web-{54E206A7-2E91-4DAA-A9B3-1994F468A260}" dt="2026-02-10T00:40:53.546" v="10" actId="20577"/>
          <ac:spMkLst>
            <pc:docMk/>
            <pc:sldMk cId="2557734736" sldId="331"/>
            <ac:spMk id="2" creationId="{D90CFEBF-6CAE-1C1B-CD4B-FF48A88B3A2F}"/>
          </ac:spMkLst>
        </pc:spChg>
        <pc:spChg chg="mod">
          <ac:chgData name="Ryan M Beasley" userId="S::rbeasle@purdue.edu::366df439-aa2e-424b-a8f5-a83561fd5417" providerId="AD" clId="Web-{54E206A7-2E91-4DAA-A9B3-1994F468A260}" dt="2026-02-10T00:47:50.659" v="144" actId="20577"/>
          <ac:spMkLst>
            <pc:docMk/>
            <pc:sldMk cId="2557734736" sldId="331"/>
            <ac:spMk id="3" creationId="{808A6F53-2B12-1F04-BF9F-8ED57B97E4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D59C-3BFC-497A-8768-51ECC8155F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19C9A-EC82-4527-B6AC-C4D0CF504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79c3a7a8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479c3a7a8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264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79c3a7a8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479c3a7a8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610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cumin Pro" panose="020B0504020202020204" pitchFamily="34" charset="0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latin typeface="Acumin Pro" panose="020B0504020202020204" pitchFamily="34" charset="0"/>
              </a:endParaRPr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etBrains Mono SemiBold"/>
              <a:buNone/>
              <a:defRPr sz="4800" b="0">
                <a:solidFill>
                  <a:schemeClr val="lt1"/>
                </a:solidFill>
                <a:latin typeface="Acumin Pro" panose="020B0504020202020204" pitchFamily="34" charset="0"/>
                <a:ea typeface="Acumin Pro" panose="020B0504020202020204" pitchFamily="34" charset="0"/>
                <a:cs typeface="JetBrains Mono SemiBold"/>
                <a:sym typeface="JetBrains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26" name="Google Shape;26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7" name="Google Shape;27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" name="Google Shape;28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JetBrains Mono Medium"/>
              <a:buNone/>
              <a:defRPr sz="3467" b="0">
                <a:latin typeface="Acumin Pro" panose="020B0504020202020204" pitchFamily="34" charset="0"/>
                <a:ea typeface="Acumin Pro" panose="020B0504020202020204" pitchFamily="34" charset="0"/>
                <a:cs typeface="JetBrains Mono Medium"/>
                <a:sym typeface="JetBrains Mon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31789">
              <a:spcBef>
                <a:spcPts val="0"/>
              </a:spcBef>
              <a:spcAft>
                <a:spcPts val="0"/>
              </a:spcAft>
              <a:buSzPts val="1500"/>
              <a:buChar char="●"/>
              <a:defRPr>
                <a:latin typeface="Acumin Pro" panose="020B0504020202020204" pitchFamily="34" charset="0"/>
              </a:defRPr>
            </a:lvl1pPr>
            <a:lvl2pPr marL="1219170" lvl="1" indent="-414856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828754" lvl="2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2438339" lvl="3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3047924" lvl="4" indent="-414856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3657509" lvl="5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4267093" lvl="6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4876678" lvl="7" indent="-414856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5486263" lvl="8" indent="-414856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9701" y="921967"/>
            <a:ext cx="3688265" cy="3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  <a:defRPr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■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■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○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■"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accent1"/>
                </a:solidFill>
                <a:latin typeface="Acumin Pro" panose="020B0504020202020204" pitchFamily="34" charset="0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61943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cumin Pro" panose="020B0504020202020204" pitchFamily="34" charset="0"/>
          <a:ea typeface="Acumin Pro" panose="020B05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cumin Pro" panose="020B0504020202020204" pitchFamily="34" charset="0"/>
          <a:ea typeface="Acumin Pro" panose="020B05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engrprocure@purdue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2">
                <a:lumMod val="90000"/>
                <a:lumOff val="10000"/>
              </a:schemeClr>
            </a:gs>
            <a:gs pos="100000">
              <a:schemeClr val="accent3"/>
            </a:gs>
          </a:gsLst>
          <a:lin ang="780000" scaled="0"/>
          <a:tileRect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C9C1E3-16FC-3E00-0001-34A85CDD3887}"/>
              </a:ext>
            </a:extLst>
          </p:cNvPr>
          <p:cNvSpPr/>
          <p:nvPr/>
        </p:nvSpPr>
        <p:spPr>
          <a:xfrm rot="17177790">
            <a:off x="-126809" y="2261768"/>
            <a:ext cx="9753600" cy="886803"/>
          </a:xfrm>
          <a:prstGeom prst="rect">
            <a:avLst/>
          </a:prstGeom>
          <a:gradFill flip="none" rotWithShape="1">
            <a:gsLst>
              <a:gs pos="55000">
                <a:schemeClr val="bg2">
                  <a:lumMod val="90000"/>
                  <a:lumOff val="10000"/>
                </a:schemeClr>
              </a:gs>
              <a:gs pos="59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108AC-A23A-7225-D778-BC3E6F203308}"/>
              </a:ext>
            </a:extLst>
          </p:cNvPr>
          <p:cNvSpPr/>
          <p:nvPr/>
        </p:nvSpPr>
        <p:spPr>
          <a:xfrm rot="17177790">
            <a:off x="-1143649" y="2261767"/>
            <a:ext cx="9753600" cy="886803"/>
          </a:xfrm>
          <a:prstGeom prst="rect">
            <a:avLst/>
          </a:prstGeom>
          <a:gradFill flip="none" rotWithShape="1">
            <a:gsLst>
              <a:gs pos="55000">
                <a:schemeClr val="tx1"/>
              </a:gs>
              <a:gs pos="58000">
                <a:schemeClr val="bg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10012-5DC8-765D-1BF2-C983E309AD3E}"/>
              </a:ext>
            </a:extLst>
          </p:cNvPr>
          <p:cNvSpPr/>
          <p:nvPr/>
        </p:nvSpPr>
        <p:spPr>
          <a:xfrm rot="17177790">
            <a:off x="-2170833" y="2261768"/>
            <a:ext cx="9753600" cy="886803"/>
          </a:xfrm>
          <a:prstGeom prst="rect">
            <a:avLst/>
          </a:prstGeom>
          <a:gradFill flip="none" rotWithShape="1">
            <a:gsLst>
              <a:gs pos="54000">
                <a:schemeClr val="bg2">
                  <a:lumMod val="90000"/>
                  <a:lumOff val="10000"/>
                </a:schemeClr>
              </a:gs>
              <a:gs pos="55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AE2F66B3-8BA9-31EF-F132-CFF17DC893CB}"/>
              </a:ext>
            </a:extLst>
          </p:cNvPr>
          <p:cNvSpPr/>
          <p:nvPr/>
        </p:nvSpPr>
        <p:spPr>
          <a:xfrm>
            <a:off x="968199" y="1824763"/>
            <a:ext cx="6818948" cy="843751"/>
          </a:xfrm>
          <a:prstGeom prst="parallelogram">
            <a:avLst>
              <a:gd name="adj" fmla="val 28485"/>
            </a:avLst>
          </a:prstGeom>
          <a:gradFill flip="none" rotWithShape="1">
            <a:gsLst>
              <a:gs pos="79000">
                <a:schemeClr val="accent3"/>
              </a:gs>
              <a:gs pos="91000">
                <a:schemeClr val="bg2">
                  <a:lumMod val="90000"/>
                  <a:lumOff val="10000"/>
                </a:schemeClr>
              </a:gs>
            </a:gsLst>
            <a:lin ang="780000" scaled="0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i="1">
                <a:solidFill>
                  <a:schemeClr val="bg1"/>
                </a:solidFill>
                <a:latin typeface="United Sans Rg Md" pitchFamily="50" charset="0"/>
              </a:rPr>
              <a:t>Ordering</a:t>
            </a:r>
            <a:endParaRPr sz="4800" i="1">
              <a:solidFill>
                <a:schemeClr val="bg1"/>
              </a:solidFill>
              <a:latin typeface="United Sans Rg Md" pitchFamily="50" charset="0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233" y="5115133"/>
            <a:ext cx="2461400" cy="24614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2863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4D00-8389-5DC7-D5F4-C0583B40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make a purchase request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33123-9854-C865-B9A0-387743BBA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599" y="2771833"/>
            <a:ext cx="10251599" cy="3526048"/>
          </a:xfrm>
        </p:spPr>
        <p:txBody>
          <a:bodyPr>
            <a:normAutofit/>
          </a:bodyPr>
          <a:lstStyle/>
          <a:p>
            <a:pPr marL="177796" indent="0">
              <a:buNone/>
            </a:pPr>
            <a:r>
              <a:rPr lang="en-US" sz="2400"/>
              <a:t>US Vendors only</a:t>
            </a:r>
          </a:p>
          <a:p>
            <a:pPr marL="177796" indent="0">
              <a:buNone/>
            </a:pPr>
            <a:r>
              <a:rPr lang="en-US" sz="2400"/>
              <a:t>Order Procedure (after project approval)</a:t>
            </a:r>
          </a:p>
          <a:p>
            <a:pPr lvl="1"/>
            <a:r>
              <a:rPr lang="en-US" sz="2200"/>
              <a:t>Copy or Download Purchase Request Form (Brightspace Soon)</a:t>
            </a:r>
          </a:p>
          <a:p>
            <a:pPr lvl="1"/>
            <a:r>
              <a:rPr lang="en-US" sz="2200"/>
              <a:t>Follow Rules Document (Brightspace Soon)</a:t>
            </a:r>
          </a:p>
          <a:p>
            <a:r>
              <a:rPr lang="en-US" sz="2400"/>
              <a:t>Create one request per vendor</a:t>
            </a:r>
          </a:p>
          <a:p>
            <a:endParaRPr lang="en-US" sz="2400"/>
          </a:p>
          <a:p>
            <a:r>
              <a:rPr lang="en-US" sz="2400"/>
              <a:t>Send to </a:t>
            </a:r>
            <a:r>
              <a:rPr lang="en-US" sz="2400">
                <a:hlinkClick r:id="rId2"/>
              </a:rPr>
              <a:t>engrprocure@purdue.edu</a:t>
            </a:r>
            <a:r>
              <a:rPr lang="en-US" sz="2400"/>
              <a:t> as Excel </a:t>
            </a:r>
          </a:p>
        </p:txBody>
      </p:sp>
    </p:spTree>
    <p:extLst>
      <p:ext uri="{BB962C8B-B14F-4D97-AF65-F5344CB8AC3E}">
        <p14:creationId xmlns:p14="http://schemas.microsoft.com/office/powerpoint/2010/main" val="103568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FEBF-6CAE-1C1B-CD4B-FF48A88B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50" dirty="0">
                <a:latin typeface="Acumin Pro"/>
              </a:rPr>
              <a:t>Form Information</a:t>
            </a:r>
            <a:endParaRPr lang="en-US" sz="34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A6F53-2B12-1F04-BF9F-8ED57B97E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8965" indent="-431165"/>
            <a:r>
              <a:rPr lang="en-US" sz="2000" dirty="0">
                <a:latin typeface="Acumin Pro"/>
              </a:rPr>
              <a:t>Address: 465 Northwestern Ave. West Lafayette, IN 47907</a:t>
            </a:r>
            <a:endParaRPr lang="en-US" sz="2000"/>
          </a:p>
          <a:p>
            <a:pPr marL="608965" indent="-431165">
              <a:lnSpc>
                <a:spcPct val="114999"/>
              </a:lnSpc>
            </a:pPr>
            <a:r>
              <a:rPr lang="en-US" sz="2000" dirty="0">
                <a:latin typeface="Acumin Pro"/>
              </a:rPr>
              <a:t>Building </a:t>
            </a:r>
            <a:r>
              <a:rPr lang="en-US" sz="2000" err="1">
                <a:latin typeface="Acumin Pro"/>
              </a:rPr>
              <a:t>Abbv</a:t>
            </a:r>
            <a:r>
              <a:rPr lang="en-US" sz="2000" dirty="0">
                <a:latin typeface="Acumin Pro"/>
              </a:rPr>
              <a:t>: BHEE</a:t>
            </a:r>
          </a:p>
          <a:p>
            <a:pPr marL="608965" indent="-431165">
              <a:lnSpc>
                <a:spcPct val="114999"/>
              </a:lnSpc>
            </a:pPr>
            <a:r>
              <a:rPr lang="en-US" sz="2000" dirty="0">
                <a:latin typeface="Acumin Pro"/>
              </a:rPr>
              <a:t>Room Number: 065/069</a:t>
            </a:r>
            <a:endParaRPr lang="en-US" sz="2000"/>
          </a:p>
          <a:p>
            <a:pPr marL="608965" indent="-431165">
              <a:lnSpc>
                <a:spcPct val="114999"/>
              </a:lnSpc>
            </a:pPr>
            <a:r>
              <a:rPr lang="en-US" sz="2000" dirty="0">
                <a:latin typeface="Acumin Pro"/>
              </a:rPr>
              <a:t>Team Name / Project: Team ##: [Project Name] (ex. Team 06: Stylophone)</a:t>
            </a:r>
          </a:p>
          <a:p>
            <a:pPr marL="608965" indent="-431165">
              <a:lnSpc>
                <a:spcPct val="114999"/>
              </a:lnSpc>
            </a:pPr>
            <a:endParaRPr lang="en-US" sz="2000" dirty="0">
              <a:latin typeface="Acumin Pro"/>
            </a:endParaRPr>
          </a:p>
        </p:txBody>
      </p:sp>
    </p:spTree>
    <p:extLst>
      <p:ext uri="{BB962C8B-B14F-4D97-AF65-F5344CB8AC3E}">
        <p14:creationId xmlns:p14="http://schemas.microsoft.com/office/powerpoint/2010/main" val="255773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2">
                <a:lumMod val="90000"/>
                <a:lumOff val="10000"/>
              </a:schemeClr>
            </a:gs>
            <a:gs pos="100000">
              <a:schemeClr val="accent3"/>
            </a:gs>
          </a:gsLst>
          <a:lin ang="780000" scaled="0"/>
          <a:tileRect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C9C1E3-16FC-3E00-0001-34A85CDD3887}"/>
              </a:ext>
            </a:extLst>
          </p:cNvPr>
          <p:cNvSpPr/>
          <p:nvPr/>
        </p:nvSpPr>
        <p:spPr>
          <a:xfrm rot="17177790">
            <a:off x="-126809" y="2261768"/>
            <a:ext cx="9753600" cy="886803"/>
          </a:xfrm>
          <a:prstGeom prst="rect">
            <a:avLst/>
          </a:prstGeom>
          <a:gradFill flip="none" rotWithShape="1">
            <a:gsLst>
              <a:gs pos="55000">
                <a:schemeClr val="bg2">
                  <a:lumMod val="90000"/>
                  <a:lumOff val="10000"/>
                </a:schemeClr>
              </a:gs>
              <a:gs pos="59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D108AC-A23A-7225-D778-BC3E6F203308}"/>
              </a:ext>
            </a:extLst>
          </p:cNvPr>
          <p:cNvSpPr/>
          <p:nvPr/>
        </p:nvSpPr>
        <p:spPr>
          <a:xfrm rot="17177790">
            <a:off x="-1143649" y="2261767"/>
            <a:ext cx="9753600" cy="886803"/>
          </a:xfrm>
          <a:prstGeom prst="rect">
            <a:avLst/>
          </a:prstGeom>
          <a:gradFill flip="none" rotWithShape="1">
            <a:gsLst>
              <a:gs pos="55000">
                <a:schemeClr val="tx1"/>
              </a:gs>
              <a:gs pos="58000">
                <a:schemeClr val="bg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10012-5DC8-765D-1BF2-C983E309AD3E}"/>
              </a:ext>
            </a:extLst>
          </p:cNvPr>
          <p:cNvSpPr/>
          <p:nvPr/>
        </p:nvSpPr>
        <p:spPr>
          <a:xfrm rot="17177790">
            <a:off x="-2170833" y="2261768"/>
            <a:ext cx="9753600" cy="886803"/>
          </a:xfrm>
          <a:prstGeom prst="rect">
            <a:avLst/>
          </a:prstGeom>
          <a:gradFill flip="none" rotWithShape="1">
            <a:gsLst>
              <a:gs pos="54000">
                <a:schemeClr val="bg2">
                  <a:lumMod val="90000"/>
                  <a:lumOff val="10000"/>
                </a:schemeClr>
              </a:gs>
              <a:gs pos="55000">
                <a:schemeClr val="tx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AE2F66B3-8BA9-31EF-F132-CFF17DC893CB}"/>
              </a:ext>
            </a:extLst>
          </p:cNvPr>
          <p:cNvSpPr/>
          <p:nvPr/>
        </p:nvSpPr>
        <p:spPr>
          <a:xfrm>
            <a:off x="968199" y="1824763"/>
            <a:ext cx="6818948" cy="843751"/>
          </a:xfrm>
          <a:prstGeom prst="parallelogram">
            <a:avLst>
              <a:gd name="adj" fmla="val 28485"/>
            </a:avLst>
          </a:prstGeom>
          <a:gradFill flip="none" rotWithShape="1">
            <a:gsLst>
              <a:gs pos="79000">
                <a:schemeClr val="accent3"/>
              </a:gs>
              <a:gs pos="91000">
                <a:schemeClr val="bg2">
                  <a:lumMod val="90000"/>
                  <a:lumOff val="10000"/>
                </a:schemeClr>
              </a:gs>
            </a:gsLst>
            <a:lin ang="780000" scaled="0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i="1">
                <a:solidFill>
                  <a:schemeClr val="bg1"/>
                </a:solidFill>
                <a:latin typeface="United Sans Rg Md" pitchFamily="50" charset="0"/>
              </a:rPr>
              <a:t>Vendors</a:t>
            </a:r>
            <a:endParaRPr sz="4800" i="1">
              <a:solidFill>
                <a:schemeClr val="bg1"/>
              </a:solidFill>
              <a:latin typeface="United Sans Rg Md" pitchFamily="50" charset="0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233" y="5115133"/>
            <a:ext cx="2461400" cy="24614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0918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AA28-565F-987D-967C-741D3D03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Electronic Components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BA59F-8023-474A-8938-F0D4D9081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err="1"/>
              <a:t>Digikey</a:t>
            </a:r>
            <a:r>
              <a:rPr lang="en-US" sz="2400"/>
              <a:t> </a:t>
            </a:r>
          </a:p>
          <a:p>
            <a:r>
              <a:rPr lang="en-US" sz="2400"/>
              <a:t>Mouser </a:t>
            </a:r>
          </a:p>
          <a:p>
            <a:r>
              <a:rPr lang="en-US" sz="2400"/>
              <a:t>Newark </a:t>
            </a:r>
          </a:p>
          <a:p>
            <a:r>
              <a:rPr lang="en-US" sz="2400" err="1"/>
              <a:t>Jameco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6572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AA28-565F-987D-967C-741D3D03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Components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BA59F-8023-474A-8938-F0D4D9081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McMaster-Carr</a:t>
            </a:r>
          </a:p>
          <a:p>
            <a:r>
              <a:rPr lang="en-US" sz="2400"/>
              <a:t>Grainger</a:t>
            </a:r>
          </a:p>
          <a:p>
            <a:r>
              <a:rPr lang="en-US" sz="2400" err="1"/>
              <a:t>Pololu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55165075"/>
      </p:ext>
    </p:extLst>
  </p:cSld>
  <p:clrMapOvr>
    <a:masterClrMapping/>
  </p:clrMapOvr>
</p:sld>
</file>

<file path=ppt/theme/theme1.xml><?xml version="1.0" encoding="utf-8"?>
<a:theme xmlns:a="http://schemas.openxmlformats.org/drawingml/2006/main" name="1_Streamline">
  <a:themeElements>
    <a:clrScheme name="Streamline">
      <a:dk1>
        <a:srgbClr val="CFB991"/>
      </a:dk1>
      <a:lt1>
        <a:srgbClr val="FFFFFF"/>
      </a:lt1>
      <a:dk2>
        <a:srgbClr val="1A1A1A"/>
      </a:dk2>
      <a:lt2>
        <a:srgbClr val="C4BFC0"/>
      </a:lt2>
      <a:accent1>
        <a:srgbClr val="595959"/>
      </a:accent1>
      <a:accent2>
        <a:srgbClr val="6AA4C8"/>
      </a:accent2>
      <a:accent3>
        <a:srgbClr val="0000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F85F36465CBB4ABB7D39C6DA184BCA" ma:contentTypeVersion="13" ma:contentTypeDescription="Create a new document." ma:contentTypeScope="" ma:versionID="ba34109c956e84e7ec3fc5d41177c8bc">
  <xsd:schema xmlns:xsd="http://www.w3.org/2001/XMLSchema" xmlns:xs="http://www.w3.org/2001/XMLSchema" xmlns:p="http://schemas.microsoft.com/office/2006/metadata/properties" xmlns:ns2="add6a41a-bdf9-48a5-aa39-69e1ba951c1e" xmlns:ns3="e2762ddd-63fb-4a63-8536-311a8a97dd2c" targetNamespace="http://schemas.microsoft.com/office/2006/metadata/properties" ma:root="true" ma:fieldsID="32063fc0574ab7ffea52bdb9964af312" ns2:_="" ns3:_="">
    <xsd:import namespace="add6a41a-bdf9-48a5-aa39-69e1ba951c1e"/>
    <xsd:import namespace="e2762ddd-63fb-4a63-8536-311a8a97dd2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a41a-bdf9-48a5-aa39-69e1ba951c1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fb81264c-c5a5-4e3d-9b99-3cf2246fbca6}" ma:internalName="TaxCatchAll" ma:showField="CatchAllData" ma:web="add6a41a-bdf9-48a5-aa39-69e1ba951c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62ddd-63fb-4a63-8536-311a8a97d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d6a41a-bdf9-48a5-aa39-69e1ba951c1e" xsi:nil="true"/>
    <lcf76f155ced4ddcb4097134ff3c332f xmlns="e2762ddd-63fb-4a63-8536-311a8a97dd2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855B2A-38F6-42AD-8B04-57CDA72AB9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d6a41a-bdf9-48a5-aa39-69e1ba951c1e"/>
    <ds:schemaRef ds:uri="e2762ddd-63fb-4a63-8536-311a8a97d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8D072F-59B9-456C-A0AC-23BF70B92DAD}">
  <ds:schemaRefs>
    <ds:schemaRef ds:uri="http://schemas.microsoft.com/office/2006/metadata/properties"/>
    <ds:schemaRef ds:uri="http://schemas.microsoft.com/office/infopath/2007/PartnerControls"/>
    <ds:schemaRef ds:uri="add6a41a-bdf9-48a5-aa39-69e1ba951c1e"/>
    <ds:schemaRef ds:uri="e2762ddd-63fb-4a63-8536-311a8a97dd2c"/>
  </ds:schemaRefs>
</ds:datastoreItem>
</file>

<file path=customXml/itemProps3.xml><?xml version="1.0" encoding="utf-8"?>
<ds:datastoreItem xmlns:ds="http://schemas.openxmlformats.org/officeDocument/2006/customXml" ds:itemID="{B2F85A5A-CBF5-47F3-A229-F11284B4ED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</Words>
  <Application>Microsoft Office PowerPoint</Application>
  <PresentationFormat>Widescreen</PresentationFormat>
  <Paragraphs>19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1_Streamline</vt:lpstr>
      <vt:lpstr>Ordering</vt:lpstr>
      <vt:lpstr>How to make a purchase request</vt:lpstr>
      <vt:lpstr>Form Information</vt:lpstr>
      <vt:lpstr>Vendors</vt:lpstr>
      <vt:lpstr>Electronic Components </vt:lpstr>
      <vt:lpstr>Mechanical Components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49022 Solution Proposal</dc:title>
  <dc:creator>Beasley, Ryan M</dc:creator>
  <cp:lastModifiedBy>Carla B Zoltowski</cp:lastModifiedBy>
  <cp:revision>36</cp:revision>
  <dcterms:created xsi:type="dcterms:W3CDTF">2023-07-25T20:10:33Z</dcterms:created>
  <dcterms:modified xsi:type="dcterms:W3CDTF">2026-02-10T00:47:59Z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2023-07-26T19:26:50Z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44909b65-e0e0-4445-866e-48416e37efbd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0x01010048F85F36465CBB4ABB7D39C6DA184BCA</vt:lpwstr>
  </property>
  <property fmtid="{D5CDD505-2E9C-101B-9397-08002B2CF9AE}" pid="10" name="MediaServiceImageTags">
    <vt:lpwstr/>
  </property>
</Properties>
</file>